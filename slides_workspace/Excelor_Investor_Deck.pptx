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-914400" y="-914400"/>
            <a:ext cx="5486400" cy="8686800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377440"/>
            <a:ext cx="2286000" cy="36576"/>
          </a:xfrm>
          <a:prstGeom prst="rect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Self-Evolving AI Agent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agents that research, invest, automate,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continuously improve themselves.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Investor Presentation  |  April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01200" y="640080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tools today are passive assistants.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wait. They don't act.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2514600" cy="3017520"/>
          </a:xfrm>
          <a:prstGeom prst="rect">
            <a:avLst>
              <a:gd name="adj" fmla="val 4364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2788920"/>
            <a:ext cx="502920" cy="502920"/>
          </a:xfrm>
          <a:prstGeom prst="ellipse">
            <a:avLst/>
          </a:prstGeom>
          <a:solidFill>
            <a:srgbClr val="1A23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Workflows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Professionals juggle 10+ tools for research, trading, documents, and automation.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468880"/>
            <a:ext cx="2514600" cy="3017520"/>
          </a:xfrm>
          <a:prstGeom prst="rect">
            <a:avLst>
              <a:gd name="adj" fmla="val 4364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788920"/>
            <a:ext cx="502920" cy="502920"/>
          </a:xfrm>
          <a:prstGeom prst="ellipse">
            <a:avLst/>
          </a:prstGeom>
          <a:solidFill>
            <a:srgbClr val="1A23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⏳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Repetition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9776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wasted on tasks that could be fully automated — job apps, market analysis, reporting.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2514600" cy="3017520"/>
          </a:xfrm>
          <a:prstGeom prst="rect">
            <a:avLst>
              <a:gd name="adj" fmla="val 4364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2788920"/>
            <a:ext cx="502920" cy="502920"/>
          </a:xfrm>
          <a:prstGeom prst="ellipse">
            <a:avLst/>
          </a:prstGeom>
          <a:solidFill>
            <a:srgbClr val="1A23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Learning Loop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9776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AI has no memory of what works. Every session starts from zero.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61120" y="2468880"/>
            <a:ext cx="2514600" cy="3017520"/>
          </a:xfrm>
          <a:prstGeom prst="rect">
            <a:avLst>
              <a:gd name="adj" fmla="val 4364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6960" y="2788920"/>
            <a:ext cx="502920" cy="502920"/>
          </a:xfrm>
          <a:prstGeom prst="ellipse">
            <a:avLst/>
          </a:prstGeom>
          <a:solidFill>
            <a:srgbClr val="1A23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Walled Gardens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0" y="397764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providers lock users into single ecosystems with no portability.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 |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01200" y="640080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Excelor: One platform.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agents that actually do the work.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is a desktop AI workspace that combines a multi-provider agent runtime, real-time document editing, browser automation, and a self-improving skills system — all running locally on your machine.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023360" y="3291840"/>
            <a:ext cx="4114800" cy="2560320"/>
          </a:xfrm>
          <a:prstGeom prst="rect">
            <a:avLst>
              <a:gd name="adj" fmla="val 4286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0" y="3931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3017520" cy="1005840"/>
          </a:xfrm>
          <a:prstGeom prst="rect">
            <a:avLst>
              <a:gd name="adj" fmla="val 9091"/>
            </a:avLst>
          </a:prstGeom>
          <a:solidFill>
            <a:srgbClr val="14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747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3017520" cy="1005840"/>
          </a:xfrm>
          <a:prstGeom prst="rect">
            <a:avLst>
              <a:gd name="adj" fmla="val 9091"/>
            </a:avLst>
          </a:prstGeom>
          <a:solidFill>
            <a:srgbClr val="141A2E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8463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7C5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Multi-Provider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7C5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95360" y="3474720"/>
            <a:ext cx="3017520" cy="1005840"/>
          </a:xfrm>
          <a:prstGeom prst="rect">
            <a:avLst>
              <a:gd name="adj" fmla="val 9091"/>
            </a:avLst>
          </a:prstGeom>
          <a:solidFill>
            <a:srgbClr val="141A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34747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Ecosystem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95360" y="4846320"/>
            <a:ext cx="3017520" cy="1005840"/>
          </a:xfrm>
          <a:prstGeom prst="rect">
            <a:avLst>
              <a:gd name="adj" fmla="val 9091"/>
            </a:avLst>
          </a:prstGeom>
          <a:solidFill>
            <a:srgbClr val="141A2E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48463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9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Self-Optimizing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9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 |  CONFIDENTIAL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601200" y="640080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an autonomous AI agent needs — built in.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429000" cy="2011680"/>
          </a:xfrm>
          <a:prstGeom prst="rect">
            <a:avLst>
              <a:gd name="adj" fmla="val 5455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Research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 filings, earnings, fundamentals, insider trades, real-time prices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429000" cy="2011680"/>
          </a:xfrm>
          <a:prstGeom prst="rect">
            <a:avLst>
              <a:gd name="adj" fmla="val 5455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6636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Search &amp; Browse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8346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Playwright browser automation with intelligent page extraction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2011680"/>
            <a:ext cx="3429000" cy="2011680"/>
          </a:xfrm>
          <a:prstGeom prst="rect">
            <a:avLst>
              <a:gd name="adj" fmla="val 5455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2396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Workspace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28346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&amp; edit XLSX, DOCX, PDF, PPTX natively with OnlyOffice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3429000" cy="2011680"/>
          </a:xfrm>
          <a:prstGeom prst="rect">
            <a:avLst>
              <a:gd name="adj" fmla="val 5455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4526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System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51206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Spawn sub-agents, delegate tasks, coordinate complex workflows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4297680"/>
            <a:ext cx="3429000" cy="2011680"/>
          </a:xfrm>
          <a:prstGeom prst="rect">
            <a:avLst>
              <a:gd name="adj" fmla="val 5455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66360" y="4526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 Architecture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51206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Extensible skills, tools, hooks, and custom agent definitions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4297680"/>
            <a:ext cx="3429000" cy="2011680"/>
          </a:xfrm>
          <a:prstGeom prst="rect">
            <a:avLst>
              <a:gd name="adj" fmla="val 5455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4526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823960" y="4526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Multi-Provider LLMs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75320" y="512064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OpenAI, Anthropic, Google, xAI, DeepSeek, Ollama, and more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 |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601200" y="640080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 INVESTMENT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strategy generation, backtesting,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autonomous crypto trading.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606040" cy="1280160"/>
          </a:xfrm>
          <a:prstGeom prst="rect">
            <a:avLst>
              <a:gd name="adj" fmla="val 7143"/>
            </a:avLst>
          </a:prstGeom>
          <a:solidFill>
            <a:srgbClr val="14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146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Data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feeds,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on-chain analytics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54680" y="27432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606040" cy="1280160"/>
          </a:xfrm>
          <a:prstGeom prst="rect">
            <a:avLst>
              <a:gd name="adj" fmla="val 7143"/>
            </a:avLst>
          </a:prstGeom>
          <a:solidFill>
            <a:srgbClr val="141A2E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5146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C5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C5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3063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AI-driven signal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detection &amp; modeling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27432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2606040" cy="1280160"/>
          </a:xfrm>
          <a:prstGeom prst="rect">
            <a:avLst>
              <a:gd name="adj" fmla="val 7143"/>
            </a:avLst>
          </a:prstGeom>
          <a:solidFill>
            <a:srgbClr val="141A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5146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Backtest &amp;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simulation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risk scoring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15400" y="27432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89720" y="2377440"/>
            <a:ext cx="2606040" cy="1280160"/>
          </a:xfrm>
          <a:prstGeom prst="rect">
            <a:avLst>
              <a:gd name="adj" fmla="val 7143"/>
            </a:avLst>
          </a:prstGeom>
          <a:solidFill>
            <a:srgbClr val="141A2E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25146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9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9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89720" y="30632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trades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safeguards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11064240" cy="2103120"/>
          </a:xfrm>
          <a:prstGeom prst="rect">
            <a:avLst>
              <a:gd name="adj" fmla="val 5217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DIFFERENTIATORS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47548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475488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and tests investment strategies in real-time — not just analysis, but execution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508406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5084064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Develops custom crypto trading algorithms using AI-driven signal detection and on-chain 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541324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34440" y="541324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self-optimization: strategies improve over time as the agent learns from outcomes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5742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5742432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transparency — every decision, backtest result, and trade is logged and auditable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6126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https://t.co/wIDd2SaYbp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 |  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601200" y="640080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browser agents that navigate,</a:t>
            </a:r>
            <a:endParaRPr lang="en-US" sz="2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forms, and complete real-world tasks.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212080" cy="3840480"/>
          </a:xfrm>
          <a:prstGeom prst="rect">
            <a:avLst>
              <a:gd name="adj" fmla="val 2857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5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Applications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1821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Autonomously browse job boards, tailor resumes, fill applications, and submit — across LinkedIn, Indeed, and more.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3703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9593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Scrape structured data from any website, extract tables, download documents, and compile reports.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Automation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47365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 multi-step forms, CAPTCHAs, file uploads, and authentication flows.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52578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55138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web monitoring for price changes, availability, regulatory filings, and competitor activity.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5212080" cy="3840480"/>
          </a:xfrm>
          <a:prstGeom prst="rect">
            <a:avLst>
              <a:gd name="adj" fmla="val 2857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5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926080"/>
            <a:ext cx="54864" cy="594360"/>
          </a:xfrm>
          <a:prstGeom prst="rect">
            <a:avLst>
              <a:gd name="adj" fmla="val 50000"/>
            </a:avLst>
          </a:prstGeom>
          <a:solidFill>
            <a:srgbClr val="7C5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926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Engine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31821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browser control — clicks, typing, navigation, screenshots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3703320"/>
            <a:ext cx="54864" cy="594360"/>
          </a:xfrm>
          <a:prstGeom prst="rect">
            <a:avLst>
              <a:gd name="adj" fmla="val 50000"/>
            </a:avLst>
          </a:prstGeom>
          <a:solidFill>
            <a:srgbClr val="7C5C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+ DOM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9593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visual understanding with DOM analysis for reliable element targeting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4480560"/>
            <a:ext cx="54864" cy="594360"/>
          </a:xfrm>
          <a:prstGeom prst="rect">
            <a:avLst>
              <a:gd name="adj" fmla="val 50000"/>
            </a:avLst>
          </a:prstGeom>
          <a:solidFill>
            <a:srgbClr val="7C5CFC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480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Multi-Tab Orchestration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47365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multiple browser tabs and windows simultaneously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5257800"/>
            <a:ext cx="54864" cy="594360"/>
          </a:xfrm>
          <a:prstGeom prst="rect">
            <a:avLst>
              <a:gd name="adj" fmla="val 50000"/>
            </a:avLst>
          </a:prstGeom>
          <a:solidFill>
            <a:srgbClr val="7C5C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5257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Persistence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55138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Maintains login state, cookies, and context across tasks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 |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601200" y="640080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SELF-OPTIMIZING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that build, evaluate,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improve themselves.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agents don't just execute tasks — they write their own skills, evaluate their performance, and evolve their capabilities over time. This is the core breakthrough: AI that improves itself without human intervention.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2286000" cy="1097280"/>
          </a:xfrm>
          <a:prstGeom prst="rect">
            <a:avLst>
              <a:gd name="adj" fmla="val 8333"/>
            </a:avLst>
          </a:prstGeom>
          <a:solidFill>
            <a:srgbClr val="14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3474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3200400"/>
            <a:ext cx="2286000" cy="1097280"/>
          </a:xfrm>
          <a:prstGeom prst="rect">
            <a:avLst>
              <a:gd name="adj" fmla="val 8333"/>
            </a:avLst>
          </a:prstGeom>
          <a:solidFill>
            <a:srgbClr val="141A2E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C5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C5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3474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0" y="3200400"/>
            <a:ext cx="2286000" cy="1097280"/>
          </a:xfrm>
          <a:prstGeom prst="rect">
            <a:avLst>
              <a:gd name="adj" fmla="val 8333"/>
            </a:avLst>
          </a:prstGeom>
          <a:solidFill>
            <a:srgbClr val="141A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SKILL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8320" y="3474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0" y="3200400"/>
            <a:ext cx="2286000" cy="1097280"/>
          </a:xfrm>
          <a:prstGeom prst="rect">
            <a:avLst>
              <a:gd name="adj" fmla="val 8333"/>
            </a:avLst>
          </a:prstGeom>
          <a:solidFill>
            <a:srgbClr val="141A2E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9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9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IMPROVE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371600" y="4572000"/>
            <a:ext cx="10058400" cy="36576"/>
          </a:xfrm>
          <a:prstGeom prst="rect">
            <a:avLst>
              <a:gd name="adj" fmla="val 50000"/>
            </a:avLst>
          </a:prstGeom>
          <a:solidFill>
            <a:srgbClr val="FF910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4663440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◀  Continuous improvement loop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5166360"/>
            <a:ext cx="3566160" cy="1097280"/>
          </a:xfrm>
          <a:prstGeom prst="rect">
            <a:avLst>
              <a:gd name="adj" fmla="val 10000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257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SKILL.md Authoring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5577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create new skills as markdown-driven workflows that persist across sessions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5166360"/>
            <a:ext cx="3566160" cy="1097280"/>
          </a:xfrm>
          <a:prstGeom prst="rect">
            <a:avLst>
              <a:gd name="adj" fmla="val 10000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5257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Scratchpad Memory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5577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management system preserves learnings while staying within token limits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21040" y="5166360"/>
            <a:ext cx="3566160" cy="1097280"/>
          </a:xfrm>
          <a:prstGeom prst="rect">
            <a:avLst>
              <a:gd name="adj" fmla="val 10000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5257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 Self-Assembly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5577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can generate entire plugin packages — tools, hooks, and agent definitions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 |  CONFIDENTIAL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601200" y="640080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Local-first. Multi-provider. Extensible.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9445752" cy="777240"/>
          </a:xfrm>
          <a:prstGeom prst="rect">
            <a:avLst>
              <a:gd name="adj" fmla="val 11765"/>
            </a:avLst>
          </a:prstGeom>
          <a:solidFill>
            <a:srgbClr val="14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 UI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2377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  •  React 19  •  Tailwind  •  Framer Motion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3017520"/>
            <a:ext cx="9445752" cy="777240"/>
          </a:xfrm>
          <a:prstGeom prst="rect">
            <a:avLst>
              <a:gd name="adj" fmla="val 11765"/>
            </a:avLst>
          </a:prstGeom>
          <a:solidFill>
            <a:srgbClr val="141A2E"/>
          </a:solidFill>
          <a:ln w="12700">
            <a:solidFill>
              <a:srgbClr val="7C5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 RUNTIME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33832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Bun/TypeScript  •  Tool Registry  •  Scratchpad  •  SSE Streaming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4023360"/>
            <a:ext cx="9445752" cy="777240"/>
          </a:xfrm>
          <a:prstGeom prst="rect">
            <a:avLst>
              <a:gd name="adj" fmla="val 11765"/>
            </a:avLst>
          </a:prstGeom>
          <a:solidFill>
            <a:srgbClr val="141A2E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45920" y="4389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OnlyOffice (Docker)  •  XLSX/DOCX/PDF/PPTX  •  Flask Backend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5029200"/>
            <a:ext cx="9445752" cy="777240"/>
          </a:xfrm>
          <a:prstGeom prst="rect">
            <a:avLst>
              <a:gd name="adj" fmla="val 11765"/>
            </a:avLst>
          </a:prstGeom>
          <a:solidFill>
            <a:srgbClr val="141A2E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 PROVIDERS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53949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 •  Anthropic  •  Google  •  xAI  •  DeepSeek  •  Ollama  •  OpenRouter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011680"/>
            <a:ext cx="54864" cy="3794760"/>
          </a:xfrm>
          <a:prstGeom prst="rect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200400"/>
            <a:ext cx="457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 |  CONFIDENTIAL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601200" y="640080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agent market is exploding.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2560320"/>
          </a:xfrm>
          <a:prstGeom prst="rect">
            <a:avLst>
              <a:gd name="adj" fmla="val 4286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$65B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2030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(47% CAGR)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651760" cy="2560320"/>
          </a:xfrm>
          <a:prstGeom prst="rect">
            <a:avLst>
              <a:gd name="adj" fmla="val 4286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194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Algorithmic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$31B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11880" y="3566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2028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(12% CAGR)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2651760" cy="2560320"/>
          </a:xfrm>
          <a:prstGeom prst="rect">
            <a:avLst>
              <a:gd name="adj" fmla="val 4286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194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RPA /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5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$26B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92240" y="3566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2028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(27% CAGR)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2011680"/>
            <a:ext cx="2651760" cy="2560320"/>
          </a:xfrm>
          <a:prstGeom prst="rect">
            <a:avLst>
              <a:gd name="adj" fmla="val 4286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1945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72600" y="28346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$44B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372600" y="35661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2029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(34% CAGR)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64240" cy="1280160"/>
          </a:xfrm>
          <a:prstGeom prst="rect">
            <a:avLst>
              <a:gd name="adj" fmla="val 8571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983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EXCELOR'S POSITION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sits at the intersection of all four markets — a unified agent platform that handles financial research, algorithmic trading, web automation, and document workflows. No other product combines autonomous execution with self-improving intelligence across these verticals.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601200" y="640080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Excelor wins.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743200" cy="548640"/>
          </a:xfrm>
          <a:prstGeom prst="rect">
            <a:avLst/>
          </a:prstGeom>
          <a:solidFill>
            <a:srgbClr val="0B0F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2011680" cy="548640"/>
          </a:xfrm>
          <a:prstGeom prst="rect">
            <a:avLst/>
          </a:prstGeom>
          <a:solidFill>
            <a:srgbClr val="0D284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2011680"/>
            <a:ext cx="2011680" cy="548640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ChatGPT /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0" y="2011680"/>
            <a:ext cx="2011680" cy="548640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509760" y="2011680"/>
            <a:ext cx="2011680" cy="548640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2743200" cy="475488"/>
          </a:xfrm>
          <a:prstGeom prst="rect">
            <a:avLst/>
          </a:prstGeom>
          <a:solidFill>
            <a:srgbClr val="0B0F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5603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Execution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2560320"/>
            <a:ext cx="2011680" cy="475488"/>
          </a:xfrm>
          <a:prstGeom prst="rect">
            <a:avLst/>
          </a:prstGeom>
          <a:solidFill>
            <a:srgbClr val="0D284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560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0" y="2560320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560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8080" y="2560320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2560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509760" y="2560320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25603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3035808"/>
            <a:ext cx="2743200" cy="475488"/>
          </a:xfrm>
          <a:prstGeom prst="rect">
            <a:avLst/>
          </a:prstGeom>
          <a:solidFill>
            <a:srgbClr val="0B0F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0358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Self-Improving Skills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3035808"/>
            <a:ext cx="2011680" cy="475488"/>
          </a:xfrm>
          <a:prstGeom prst="rect">
            <a:avLst/>
          </a:prstGeom>
          <a:solidFill>
            <a:srgbClr val="0D284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0358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0" y="3035808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30358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98080" y="3035808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30358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509760" y="3035808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30358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1520" y="3511296"/>
            <a:ext cx="2743200" cy="475488"/>
          </a:xfrm>
          <a:prstGeom prst="rect">
            <a:avLst/>
          </a:prstGeom>
          <a:solidFill>
            <a:srgbClr val="0B0F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5112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Multi-Provider LLMs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0" y="3511296"/>
            <a:ext cx="2011680" cy="475488"/>
          </a:xfrm>
          <a:prstGeom prst="rect">
            <a:avLst/>
          </a:prstGeom>
          <a:solidFill>
            <a:srgbClr val="0D284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35112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0" y="3511296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35112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98080" y="3511296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98080" y="35112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509760" y="3511296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09760" y="35112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31520" y="3986784"/>
            <a:ext cx="2743200" cy="475488"/>
          </a:xfrm>
          <a:prstGeom prst="rect">
            <a:avLst/>
          </a:prstGeom>
          <a:solidFill>
            <a:srgbClr val="0B0F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39867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 Strategy Gen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74720" y="3986784"/>
            <a:ext cx="2011680" cy="475488"/>
          </a:xfrm>
          <a:prstGeom prst="rect">
            <a:avLst/>
          </a:prstGeom>
          <a:solidFill>
            <a:srgbClr val="0D284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39867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486400" y="3986784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0" y="39867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498080" y="3986784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39867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9509760" y="3986784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09760" y="39867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31520" y="4462272"/>
            <a:ext cx="2743200" cy="475488"/>
          </a:xfrm>
          <a:prstGeom prst="rect">
            <a:avLst/>
          </a:prstGeom>
          <a:solidFill>
            <a:srgbClr val="0B0F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44622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Automation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474720" y="4462272"/>
            <a:ext cx="2011680" cy="475488"/>
          </a:xfrm>
          <a:prstGeom prst="rect">
            <a:avLst/>
          </a:prstGeom>
          <a:solidFill>
            <a:srgbClr val="0D284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74720" y="44622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486400" y="4462272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0" y="44622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7498080" y="4462272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98080" y="44622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9509760" y="4462272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09760" y="44622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31520" y="4937760"/>
            <a:ext cx="2743200" cy="475488"/>
          </a:xfrm>
          <a:prstGeom prst="rect">
            <a:avLst/>
          </a:prstGeom>
          <a:solidFill>
            <a:srgbClr val="0B0F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49377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Workspace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474720" y="4937760"/>
            <a:ext cx="2011680" cy="475488"/>
          </a:xfrm>
          <a:prstGeom prst="rect">
            <a:avLst/>
          </a:prstGeom>
          <a:solidFill>
            <a:srgbClr val="0D284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0" y="4937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486400" y="4937760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0" y="4937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7498080" y="4937760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98080" y="4937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9509760" y="4937760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509760" y="49377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731520" y="5413248"/>
            <a:ext cx="2743200" cy="475488"/>
          </a:xfrm>
          <a:prstGeom prst="rect">
            <a:avLst/>
          </a:prstGeom>
          <a:solidFill>
            <a:srgbClr val="0B0F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1520" y="5413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Local-First / Private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474720" y="5413248"/>
            <a:ext cx="2011680" cy="475488"/>
          </a:xfrm>
          <a:prstGeom prst="rect">
            <a:avLst/>
          </a:prstGeom>
          <a:solidFill>
            <a:srgbClr val="0D284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0" y="54132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5486400" y="5413248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0" y="54132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7498080" y="5413248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98080" y="54132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9509760" y="5413248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509760" y="54132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731520" y="5888736"/>
            <a:ext cx="2743200" cy="475488"/>
          </a:xfrm>
          <a:prstGeom prst="rect">
            <a:avLst/>
          </a:prstGeom>
          <a:solidFill>
            <a:srgbClr val="0B0F1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1520" y="58887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 Ecosystem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3474720" y="5888736"/>
            <a:ext cx="2011680" cy="475488"/>
          </a:xfrm>
          <a:prstGeom prst="rect">
            <a:avLst/>
          </a:prstGeom>
          <a:solidFill>
            <a:srgbClr val="0D284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74720" y="58887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5486400" y="5888736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486400" y="58887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7498080" y="5888736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498080" y="58887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9509760" y="5888736"/>
            <a:ext cx="2011680" cy="475488"/>
          </a:xfrm>
          <a:prstGeom prst="rect">
            <a:avLst/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09760" y="58887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1400" dirty="0"/>
          </a:p>
        </p:txBody>
      </p:sp>
      <p:sp>
        <p:nvSpPr>
          <p:cNvPr id="94" name="Text 92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 |  CONFIDENTIAL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9601200" y="640080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revenue streams. High retention.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3291840"/>
          </a:xfrm>
          <a:prstGeom prst="rect">
            <a:avLst>
              <a:gd name="adj" fmla="val 4138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2651760" cy="54864"/>
          </a:xfrm>
          <a:prstGeom prst="rect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Subscription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$49/mo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agent runtime, all LLM providers, priority skills, web automation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2011680"/>
            <a:ext cx="2651760" cy="3291840"/>
          </a:xfrm>
          <a:prstGeom prst="rect">
            <a:avLst>
              <a:gd name="adj" fmla="val 4138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011680"/>
            <a:ext cx="2651760" cy="54864"/>
          </a:xfrm>
          <a:prstGeom prst="rect">
            <a:avLst>
              <a:gd name="adj" fmla="val 50000"/>
            </a:avLst>
          </a:prstGeom>
          <a:solidFill>
            <a:srgbClr val="7C5CFC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1188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5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35661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On-prem deployment, custom agents, SSO, audit logging, SLA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2651760" cy="3291840"/>
          </a:xfrm>
          <a:prstGeom prst="rect">
            <a:avLst>
              <a:gd name="adj" fmla="val 4138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011680"/>
            <a:ext cx="2651760" cy="54864"/>
          </a:xfrm>
          <a:prstGeom prst="rect">
            <a:avLst>
              <a:gd name="adj" fmla="val 50000"/>
            </a:avLst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Plugin Marketplace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 Share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37960" y="35661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Third-party plugins, premium skills, community-built agents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89720" y="2011680"/>
            <a:ext cx="2651760" cy="3291840"/>
          </a:xfrm>
          <a:prstGeom prst="rect">
            <a:avLst>
              <a:gd name="adj" fmla="val 4138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2011680"/>
            <a:ext cx="2651760" cy="54864"/>
          </a:xfrm>
          <a:prstGeom prst="rect">
            <a:avLst>
              <a:gd name="adj" fmla="val 50000"/>
            </a:avLst>
          </a:prstGeom>
          <a:solidFill>
            <a:srgbClr val="FF9100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Trading Alpha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7260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91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AUM Fee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418320" y="35661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crypto strategies powered by Excelor agents, performance fees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11064240" cy="640080"/>
          </a:xfrm>
          <a:prstGeom prst="rect">
            <a:avLst>
              <a:gd name="adj" fmla="val 17143"/>
            </a:avLst>
          </a:prstGeom>
          <a:solidFill>
            <a:srgbClr val="14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 Revenue Retention target: 140%+  |  Expansion via seat growth, premium plugins, and managed strategies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 | 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601200" y="640080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00000">
            <a:off x="7315200" y="-914400"/>
            <a:ext cx="6400800" cy="8686800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2011680"/>
            <a:ext cx="5788152" cy="36576"/>
          </a:xfrm>
          <a:prstGeom prst="rect">
            <a:avLst>
              <a:gd name="adj" fmla="val 50000"/>
            </a:avLst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future of AI</a:t>
            </a:r>
            <a:endParaRPr lang="en-US" sz="4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autonomous.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is building it.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4754880"/>
            <a:ext cx="5788152" cy="1188720"/>
          </a:xfrm>
          <a:prstGeom prst="rect">
            <a:avLst>
              <a:gd name="adj" fmla="val 11538"/>
            </a:avLst>
          </a:prstGeom>
          <a:solidFill>
            <a:srgbClr val="141A2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4846320"/>
            <a:ext cx="5788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talk.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0" y="5349240"/>
            <a:ext cx="5788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investors@excelor.ai  |  excelor.ai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EXCELOR  | 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01200" y="6400800"/>
            <a:ext cx="2130552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Excelor — Self-Evolving AI Agent Platform</dc:title>
  <dc:subject>Investor Deck</dc:subject>
  <dc:creator>Excelor</dc:creator>
  <cp:lastModifiedBy>Excelor</cp:lastModifiedBy>
  <cp:revision>1</cp:revision>
  <dcterms:created xsi:type="dcterms:W3CDTF">2026-04-07T23:55:20Z</dcterms:created>
  <dcterms:modified xsi:type="dcterms:W3CDTF">2026-04-07T23:55:20Z</dcterms:modified>
</cp:coreProperties>
</file>